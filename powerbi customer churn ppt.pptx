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8288000" cy="10287000"/>
  <p:notesSz cx="6858000" cy="9144000"/>
  <p:embeddedFontLst>
    <p:embeddedFont>
      <p:font typeface="League Spartan" panose="00000800000000000000"/>
      <p:bold r:id="rId21"/>
    </p:embeddedFont>
    <p:embeddedFont>
      <p:font typeface="Calibri (MS) Bold" panose="020F0702030404030204"/>
      <p:bold r:id="rId22"/>
    </p:embeddedFont>
    <p:embeddedFont>
      <p:font typeface="Times New Roman Bold" panose="02020803070505020304"/>
      <p:bold r:id="rId23"/>
    </p:embeddedFont>
    <p:embeddedFont>
      <p:font typeface="Poppins Ultra-Bold" panose="00000900000000000000"/>
      <p:bold r:id="rId24"/>
    </p:embeddedFont>
    <p:embeddedFont>
      <p:font typeface="Libre Baskerville" panose="02000000000000000000"/>
      <p:regular r:id="rId25"/>
    </p:embeddedFont>
    <p:embeddedFont>
      <p:font typeface="Calibri" panose="020F0502020204030204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font" Target="fonts/font9.fntdata"/><Relationship Id="rId28" Type="http://schemas.openxmlformats.org/officeDocument/2006/relationships/font" Target="fonts/font8.fntdata"/><Relationship Id="rId27" Type="http://schemas.openxmlformats.org/officeDocument/2006/relationships/font" Target="fonts/font7.fntdata"/><Relationship Id="rId26" Type="http://schemas.openxmlformats.org/officeDocument/2006/relationships/font" Target="fonts/font6.fntdata"/><Relationship Id="rId25" Type="http://schemas.openxmlformats.org/officeDocument/2006/relationships/font" Target="fonts/font5.fntdata"/><Relationship Id="rId24" Type="http://schemas.openxmlformats.org/officeDocument/2006/relationships/font" Target="fonts/font4.fntdata"/><Relationship Id="rId23" Type="http://schemas.openxmlformats.org/officeDocument/2006/relationships/font" Target="fonts/font3.fntdata"/><Relationship Id="rId22" Type="http://schemas.openxmlformats.org/officeDocument/2006/relationships/font" Target="fonts/font2.fntdata"/><Relationship Id="rId21" Type="http://schemas.openxmlformats.org/officeDocument/2006/relationships/font" Target="fonts/font1.fntdata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38988" y="0"/>
            <a:ext cx="18286222" cy="10041147"/>
            <a:chOff x="0" y="0"/>
            <a:chExt cx="24381630" cy="133881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1588" cy="13388212"/>
            </a:xfrm>
            <a:custGeom>
              <a:avLst/>
              <a:gdLst/>
              <a:ahLst/>
              <a:cxnLst/>
              <a:rect l="l" t="t" r="r" b="b"/>
              <a:pathLst>
                <a:path w="24381588" h="13388212">
                  <a:moveTo>
                    <a:pt x="0" y="0"/>
                  </a:moveTo>
                  <a:lnTo>
                    <a:pt x="24381588" y="0"/>
                  </a:lnTo>
                  <a:lnTo>
                    <a:pt x="24381588" y="13388212"/>
                  </a:lnTo>
                  <a:lnTo>
                    <a:pt x="0" y="133882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2420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3887291" y="6052281"/>
            <a:ext cx="10513418" cy="215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Customer Churn Analysis </a:t>
            </a:r>
            <a:endParaRPr lang="en-US" sz="6200">
              <a:solidFill>
                <a:srgbClr val="000000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  <a:p>
            <a:pPr algn="ctr">
              <a:lnSpc>
                <a:spcPts val="8680"/>
              </a:lnSpc>
              <a:spcBef>
                <a:spcPct val="0"/>
              </a:spcBef>
            </a:pPr>
            <a:r>
              <a:rPr lang="en-US" sz="6200">
                <a:solidFill>
                  <a:srgbClr val="000000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 </a:t>
            </a:r>
            <a:r>
              <a:rPr lang="en-US" sz="6200">
                <a:solidFill>
                  <a:srgbClr val="FFBD59"/>
                </a:solidFill>
                <a:latin typeface="League Spartan" panose="00000800000000000000"/>
                <a:ea typeface="League Spartan" panose="00000800000000000000"/>
                <a:cs typeface="League Spartan" panose="00000800000000000000"/>
                <a:sym typeface="League Spartan" panose="00000800000000000000"/>
              </a:rPr>
              <a:t>Power BI</a:t>
            </a:r>
            <a:endParaRPr lang="en-US" sz="6200">
              <a:solidFill>
                <a:srgbClr val="FFBD59"/>
              </a:solidFill>
              <a:latin typeface="League Spartan" panose="00000800000000000000"/>
              <a:ea typeface="League Spartan" panose="00000800000000000000"/>
              <a:cs typeface="League Spartan" panose="00000800000000000000"/>
              <a:sym typeface="League Spartan" panose="000008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Agenda  </a:t>
              </a:r>
              <a:endParaRPr lang="en-US" sz="6600" b="1">
                <a:solidFill>
                  <a:srgbClr val="FF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318164" y="2293826"/>
            <a:ext cx="17821865" cy="6515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Project Overview</a:t>
            </a:r>
            <a:endParaRPr lang="en-US" sz="411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Data Source</a:t>
            </a:r>
            <a:endParaRPr lang="en-US" sz="411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Data Preparation</a:t>
            </a:r>
            <a:endParaRPr lang="en-US" sz="411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Dashboard Visualizations</a:t>
            </a:r>
            <a:endParaRPr lang="en-US" sz="411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Applications &amp; Recommendations</a:t>
            </a:r>
            <a:endParaRPr lang="en-US" sz="411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Conclusion</a:t>
            </a:r>
            <a:endParaRPr lang="en-US" sz="411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888365" lvl="1" indent="-444500" algn="l">
              <a:lnSpc>
                <a:spcPts val="5760"/>
              </a:lnSpc>
              <a:buFont typeface="Arial" panose="020B0604020202020204"/>
              <a:buChar char="•"/>
            </a:pPr>
            <a:r>
              <a:rPr lang="en-US" sz="4115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Any Queries</a:t>
            </a:r>
            <a:endParaRPr lang="en-US" sz="4115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5760"/>
              </a:lnSpc>
            </a:pPr>
          </a:p>
          <a:p>
            <a:pPr algn="l">
              <a:lnSpc>
                <a:spcPts val="5760"/>
              </a:lnSpc>
            </a:p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2834005" y="410210"/>
            <a:ext cx="15773400" cy="1692910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Project Overview</a:t>
              </a:r>
              <a:endParaRPr lang="en-US" sz="6600" b="1">
                <a:solidFill>
                  <a:srgbClr val="FF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812290" y="2102485"/>
            <a:ext cx="15876905" cy="722249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625475" lvl="1" indent="-313055" algn="l">
              <a:lnSpc>
                <a:spcPts val="4635"/>
              </a:lnSpc>
              <a:buFont typeface="Arial" panose="020B0604020202020204"/>
              <a:buChar char="•"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Analyze customer churn patterns to understand why customers discontinue services and identify the major drivers of attrition.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625475" lvl="1" indent="-313055" algn="l">
              <a:lnSpc>
                <a:spcPts val="4635"/>
              </a:lnSpc>
              <a:buFont typeface="Arial" panose="020B0604020202020204"/>
              <a:buChar char="•"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Understand customer behavior using demographic factors, service subscriptions, usage patterns, and billing information.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625475" lvl="1" indent="-313055" algn="l">
              <a:lnSpc>
                <a:spcPts val="4635"/>
              </a:lnSpc>
              <a:buFont typeface="Arial" panose="020B0604020202020204"/>
              <a:buChar char="•"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Measure churn rate across customer segments such as tenure groups, contract type, internet service, and payment method to identify high-risk categories.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625475" lvl="1" indent="-313055" algn="l">
              <a:lnSpc>
                <a:spcPts val="4635"/>
              </a:lnSpc>
              <a:buFont typeface="Arial" panose="020B0604020202020204"/>
              <a:buChar char="•"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Visualize business performance using interactive Power BI dashboards, KPIs, and drill-down reports for deeper insights.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625475" lvl="1" indent="-313055" algn="l">
              <a:lnSpc>
                <a:spcPts val="4635"/>
              </a:lnSpc>
              <a:buFont typeface="Arial" panose="020B0604020202020204"/>
              <a:buChar char="•"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Predict high-risk customers by analyzing behavior, payment trends, and service engagement to support targeted retention strategies.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625475" lvl="1" indent="-313055" algn="l">
              <a:lnSpc>
                <a:spcPts val="4635"/>
              </a:lnSpc>
              <a:buFont typeface="Arial" panose="020B0604020202020204"/>
              <a:buChar char="•"/>
            </a:pPr>
            <a:r>
              <a:rPr lang="en-US" altLang="en-US" sz="2800" b="1">
                <a:latin typeface="Times New Roman" panose="02020603050405020304" charset="0"/>
                <a:cs typeface="Times New Roman" panose="02020603050405020304" charset="0"/>
              </a:rPr>
              <a:t>Enable data-driven decision-making that helps reduce churn, improve customer satisfaction, and enhance long-term revenue stability.</a:t>
            </a:r>
            <a:endParaRPr lang="en-US" altLang="en-US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898525" y="609600"/>
            <a:ext cx="1452880" cy="1362075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Data Source</a:t>
              </a:r>
              <a:endParaRPr lang="en-US" sz="6600" b="1">
                <a:solidFill>
                  <a:srgbClr val="FF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812144" y="2469659"/>
            <a:ext cx="20960428" cy="335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Dataset Name: Telco Customer Churn Dataset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Source: Kaggle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File Type: Excel file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Total Records: 7,043 customers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Total Columns: 21 fields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480"/>
              </a:lnSpc>
            </a:p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Data Preparation</a:t>
              </a:r>
              <a:endParaRPr lang="en-US" sz="6600" b="1">
                <a:solidFill>
                  <a:srgbClr val="FF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582906" y="2274776"/>
            <a:ext cx="20960428" cy="7287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Imported dataset into Power BI Desktop from Excel file.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Performed data cleaning using Power Query Editor to ensure accuracy and consistency.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Checked and removed null values in columns like TotalCharges and replaced blanks where necessary.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Converted TotalCharges from text to numeric.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Ensured SeniorCitizen, Churn, and Partner were properly categorized as Yes/No or binary fields.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Created calculated columns and DAX measures for: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Churn Rate, Average Monthly Charges, Average Tenure, Total Revenue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Standardized categorical values ( No internet service changed to No for clarity).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Added new derived fields for advanced analysis such as: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Total Services Subscribed (count of services per customer)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Validated the dataset to ensure no duplicates or mismatched entries.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Loaded the cleaned data into the Power BI Model for visualization and analysis.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480"/>
              </a:lnSpc>
            </a:p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2834005" y="410210"/>
            <a:ext cx="15773400" cy="1665605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Dashboard Visualizations</a:t>
              </a:r>
              <a:endParaRPr lang="en-US" sz="6600" b="1">
                <a:solidFill>
                  <a:srgbClr val="FF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1630" y="2183765"/>
            <a:ext cx="15283180" cy="789940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ts val="56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1. Customer Demographics Dashboard</a:t>
            </a:r>
            <a:endParaRPr lang="en-US" sz="35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Visuals Used: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Stacked column chart 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→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Sum of monthly charges by gender and payment method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Donut Chart →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Total customers by gender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Bar Chart → 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Sum of 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Senior citizen 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by 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churn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Column Chart → 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sum of total charges by gender</a:t>
            </a:r>
            <a:endParaRPr lang="en-IN" alt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Clustered column chart 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→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Average of MonthlyCharges and Max of tenure by Streaming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Movies</a:t>
            </a:r>
            <a:endParaRPr lang="en-US" alt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Line Chart → 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Average of 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Monthly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Charges by tenure</a:t>
            </a:r>
            <a:endParaRPr lang="en-US" alt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Stacked column chart 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→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Sum of tenure by InternetService and Contract</a:t>
            </a:r>
            <a:endParaRPr lang="en-US" alt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Cards → Total Customers, 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Sum of total charges,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Avg. Tenure, 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Sum of 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Monthly Charges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Slicers 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→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Gender,Contract,Partner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Purpose: Understand customer profile and churn behavior by demographics.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480"/>
              </a:lnSpc>
            </a:pPr>
          </a:p>
        </p:txBody>
      </p:sp>
      <p:sp>
        <p:nvSpPr>
          <p:cNvPr id="8" name="Freeform 8"/>
          <p:cNvSpPr/>
          <p:nvPr/>
        </p:nvSpPr>
        <p:spPr>
          <a:xfrm>
            <a:off x="1028700" y="609600"/>
            <a:ext cx="1255395" cy="1207135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2834005" y="410210"/>
            <a:ext cx="15773400" cy="1529080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Dashboard Visualizations</a:t>
              </a:r>
              <a:endParaRPr lang="en-US" sz="6600" b="1">
                <a:solidFill>
                  <a:srgbClr val="FF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1630" y="2321560"/>
            <a:ext cx="15213965" cy="71869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56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2. Service Subscription Dashboard</a:t>
            </a:r>
            <a:endParaRPr lang="en-US" sz="35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Visuals Used: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Column Chart → 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otal customers by Phone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Service</a:t>
            </a:r>
            <a:endParaRPr lang="en-US" alt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Water fall char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 →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churn ratio by StreamingMovies</a:t>
            </a:r>
            <a:endParaRPr lang="en-US" alt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Area Chart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→ 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Churn rate by Internet service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Ribbon chart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→ 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total customers by PaymentMethod and InternetService</a:t>
            </a:r>
            <a:endParaRPr lang="en-US" alt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Stacked column chart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→ 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otal customers and Sum of TotalCharges by OnlineSecurity and Churn</a:t>
            </a:r>
            <a:endParaRPr lang="en-US" alt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Stacked column chart 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→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T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otal customers by Churn and PhoneService</a:t>
            </a:r>
            <a:endParaRPr lang="en-US" alt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Cards 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→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Churn rate,total customers,Sum of senior citizens,Churned customers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Slicers → Gender,  Internet Service, Contract Type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Purpose: Identify which services and combinations impact churn the most.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480"/>
              </a:lnSpc>
            </a:p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Dashboard Visualizations</a:t>
              </a:r>
              <a:endParaRPr lang="en-US" sz="6600" b="1">
                <a:solidFill>
                  <a:srgbClr val="FF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1630" y="2200275"/>
            <a:ext cx="13063220" cy="67335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56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3. Contract &amp; Billing Dashboard</a:t>
            </a:r>
            <a:endParaRPr lang="en-US" sz="35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Visuals Used: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Ribbon 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Chart → 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Churned Customers by PaperlessBilling</a:t>
            </a:r>
            <a:endParaRPr lang="en-US" alt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Column 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Chart → 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Sum of tenure by Contract</a:t>
            </a:r>
            <a:endParaRPr lang="en-US" alt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Donut 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Chart → 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Sum of Total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Charges by Contract</a:t>
            </a:r>
            <a:endParaRPr lang="en-US" alt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Stacked bar 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Chart → </a:t>
            </a:r>
            <a:r>
              <a:rPr lang="en-US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Sum of tenure by Churn and Payment</a:t>
            </a:r>
            <a:endParaRPr lang="en-US" alt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Pie chart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→ 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Churn rate by Contract</a:t>
            </a:r>
            <a:endParaRPr lang="en-IN" alt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Cards → Av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erage of total charges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 Charge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, Churn Rate, Total Customers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Slicers 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→ </a:t>
            </a:r>
            <a:r>
              <a:rPr lang="en-IN" alt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Payment method,Contract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Purpose: Analyze billing behavior and contractual patterns influencing churn.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480"/>
              </a:lnSpc>
            </a:p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110615" y="-376555"/>
            <a:ext cx="21998940" cy="11221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-635"/>
            <a:ext cx="18287365" cy="10287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46050"/>
            <a:ext cx="18408650" cy="107353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Applications &amp; Recommendations</a:t>
              </a:r>
              <a:endParaRPr lang="en-US" sz="6600" b="1">
                <a:solidFill>
                  <a:srgbClr val="FF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11561" y="2470785"/>
            <a:ext cx="20960428" cy="3590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Applications</a:t>
            </a:r>
            <a:endParaRPr lang="en-US" sz="35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Used by Marketing Teams to identify and target high-risk customers with retention offers.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Helps Customer Support prioritize service improvement for segments with high churn.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Enables Management to track key churn KPIs and make data-driven strategic decisions.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Supports Product Teams in optimizing service bundles and pricing models.</a:t>
            </a:r>
            <a:endParaRPr lang="en-US" alt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480"/>
              </a:lnSpc>
            </a:p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611630" y="5695950"/>
            <a:ext cx="20960715" cy="418211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5600"/>
              </a:lnSpc>
            </a:pPr>
            <a:r>
              <a:rPr lang="en-US" sz="35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Recommendations</a:t>
            </a:r>
            <a:endParaRPr lang="en-US" sz="35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Encourag</a:t>
            </a: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 long-term contracts (1-year or 2-year plans) through discounts and loyalty rewards.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Promote bundled service packages (e.g., Internet + Streaming + Security) to reduce churn.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Improve customer retention by offering personalized plans for senior citizens and high-charge users.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Educate customers about benefits of online backup and device protection services, as these reduce churn.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Monitor monthly charges and payment issues closely for early churn indicators.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2833949" y="410256"/>
            <a:ext cx="15773400" cy="1988344"/>
            <a:chOff x="0" y="0"/>
            <a:chExt cx="21031200" cy="265112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031200" cy="2651126"/>
            </a:xfrm>
            <a:custGeom>
              <a:avLst/>
              <a:gdLst/>
              <a:ahLst/>
              <a:cxnLst/>
              <a:rect l="l" t="t" r="r" b="b"/>
              <a:pathLst>
                <a:path w="21031200" h="2651126">
                  <a:moveTo>
                    <a:pt x="0" y="0"/>
                  </a:moveTo>
                  <a:lnTo>
                    <a:pt x="21031200" y="0"/>
                  </a:lnTo>
                  <a:lnTo>
                    <a:pt x="21031200" y="2651126"/>
                  </a:lnTo>
                  <a:lnTo>
                    <a:pt x="0" y="265112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1031200" cy="271780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130"/>
                </a:lnSpc>
              </a:pPr>
              <a:r>
                <a:rPr lang="en-US" sz="6600" b="1">
                  <a:solidFill>
                    <a:srgbClr val="FF0000"/>
                  </a:solidFill>
                  <a:latin typeface="Calibri (MS) Bold" panose="020F0702030404030204"/>
                  <a:ea typeface="Calibri (MS) Bold" panose="020F0702030404030204"/>
                  <a:cs typeface="Calibri (MS) Bold" panose="020F0702030404030204"/>
                  <a:sym typeface="Calibri (MS) Bold" panose="020F0702030404030204"/>
                </a:rPr>
                <a:t>Conclusion</a:t>
              </a:r>
              <a:endParaRPr lang="en-US" sz="6600" b="1">
                <a:solidFill>
                  <a:srgbClr val="FF0000"/>
                </a:solidFill>
                <a:latin typeface="Calibri (MS) Bold" panose="020F0702030404030204"/>
                <a:ea typeface="Calibri (MS) Bold" panose="020F0702030404030204"/>
                <a:cs typeface="Calibri (MS) Bold" panose="020F0702030404030204"/>
                <a:sym typeface="Calibri (MS) Bold" panose="020F0702030404030204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397229" y="2413483"/>
            <a:ext cx="16662215" cy="672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The Power BI dashboards provided clear visibility into customer churn behavior and patterns.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Analysis revealed that high monthly charges, month-to-month contracts, and fiber optic services are major churn drivers.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Customers with longer tenure and multiple service subscriptions show greater loyalty and lower churn.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Demographic factors such as senior citizen status and partner/dependent presence also influence churn tendency.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The insights enable the company to design targeted retention strategies and reduce customer loss.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Implementing data-driven actions can help boost customer satisfaction, increase retention rate, and maximize revenue.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marL="604520" lvl="1" indent="-30226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2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Overall, the project demonstrates how Power BI transforms raw data into actionable business insights for strategic decision-making.</a:t>
            </a:r>
            <a:endParaRPr lang="en-US" sz="2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  <a:p>
            <a:pPr algn="l">
              <a:lnSpc>
                <a:spcPts val="4480"/>
              </a:lnSpc>
            </a:pPr>
          </a:p>
        </p:txBody>
      </p:sp>
      <p:sp>
        <p:nvSpPr>
          <p:cNvPr id="8" name="Freeform 8"/>
          <p:cNvSpPr/>
          <p:nvPr/>
        </p:nvSpPr>
        <p:spPr>
          <a:xfrm>
            <a:off x="1028700" y="609420"/>
            <a:ext cx="1566889" cy="1590016"/>
          </a:xfrm>
          <a:custGeom>
            <a:avLst/>
            <a:gdLst/>
            <a:ahLst/>
            <a:cxnLst/>
            <a:rect l="l" t="t" r="r" b="b"/>
            <a:pathLst>
              <a:path w="1566889" h="1590016">
                <a:moveTo>
                  <a:pt x="0" y="0"/>
                </a:moveTo>
                <a:lnTo>
                  <a:pt x="1566889" y="0"/>
                </a:lnTo>
                <a:lnTo>
                  <a:pt x="1566889" y="1590017"/>
                </a:lnTo>
                <a:lnTo>
                  <a:pt x="0" y="159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3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4324759" y="0"/>
            <a:ext cx="9638483" cy="9780748"/>
          </a:xfrm>
          <a:custGeom>
            <a:avLst/>
            <a:gdLst/>
            <a:ahLst/>
            <a:cxnLst/>
            <a:rect l="l" t="t" r="r" b="b"/>
            <a:pathLst>
              <a:path w="9638483" h="9780748">
                <a:moveTo>
                  <a:pt x="0" y="0"/>
                </a:moveTo>
                <a:lnTo>
                  <a:pt x="9638482" y="0"/>
                </a:lnTo>
                <a:lnTo>
                  <a:pt x="9638482" y="9780748"/>
                </a:lnTo>
                <a:lnTo>
                  <a:pt x="0" y="9780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880610" y="1971040"/>
            <a:ext cx="8671560" cy="425323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15875"/>
              </a:lnSpc>
            </a:pPr>
            <a:r>
              <a:rPr lang="en-US" sz="14700" b="1">
                <a:solidFill>
                  <a:srgbClr val="FFBD59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ANY</a:t>
            </a:r>
            <a:endParaRPr lang="en-US" sz="14700" b="1">
              <a:solidFill>
                <a:srgbClr val="FFBD59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  <a:p>
            <a:pPr algn="ctr">
              <a:lnSpc>
                <a:spcPts val="15875"/>
              </a:lnSpc>
              <a:spcBef>
                <a:spcPct val="0"/>
              </a:spcBef>
            </a:pPr>
            <a:r>
              <a:rPr lang="en-US" sz="14700" b="1">
                <a:solidFill>
                  <a:srgbClr val="FFBD59"/>
                </a:solidFill>
                <a:latin typeface="Poppins Ultra-Bold" panose="00000900000000000000"/>
                <a:ea typeface="Poppins Ultra-Bold" panose="00000900000000000000"/>
                <a:cs typeface="Poppins Ultra-Bold" panose="00000900000000000000"/>
                <a:sym typeface="Poppins Ultra-Bold" panose="00000900000000000000"/>
              </a:rPr>
              <a:t>Queries?</a:t>
            </a:r>
            <a:endParaRPr lang="en-US" sz="14700" b="1">
              <a:solidFill>
                <a:srgbClr val="FFBD59"/>
              </a:solidFill>
              <a:latin typeface="Poppins Ultra-Bold" panose="00000900000000000000"/>
              <a:ea typeface="Poppins Ultra-Bold" panose="00000900000000000000"/>
              <a:cs typeface="Poppins Ultra-Bold" panose="00000900000000000000"/>
              <a:sym typeface="Poppins Ultra-Bold" panose="000009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13221348" y="9277476"/>
            <a:ext cx="4838096" cy="1009524"/>
            <a:chOff x="0" y="0"/>
            <a:chExt cx="6450794" cy="13460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450838" cy="1346073"/>
            </a:xfrm>
            <a:custGeom>
              <a:avLst/>
              <a:gdLst/>
              <a:ahLst/>
              <a:cxnLst/>
              <a:rect l="l" t="t" r="r" b="b"/>
              <a:pathLst>
                <a:path w="6450838" h="1346073">
                  <a:moveTo>
                    <a:pt x="0" y="0"/>
                  </a:moveTo>
                  <a:lnTo>
                    <a:pt x="6450838" y="0"/>
                  </a:lnTo>
                  <a:lnTo>
                    <a:pt x="6450838" y="1346073"/>
                  </a:lnTo>
                  <a:lnTo>
                    <a:pt x="0" y="13460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b="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9699774" y="2776124"/>
            <a:ext cx="6698464" cy="4251475"/>
            <a:chOff x="0" y="0"/>
            <a:chExt cx="8931286" cy="56686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31275" cy="5668645"/>
            </a:xfrm>
            <a:custGeom>
              <a:avLst/>
              <a:gdLst/>
              <a:ahLst/>
              <a:cxnLst/>
              <a:rect l="l" t="t" r="r" b="b"/>
              <a:pathLst>
                <a:path w="8931275" h="5668645">
                  <a:moveTo>
                    <a:pt x="0" y="0"/>
                  </a:moveTo>
                  <a:lnTo>
                    <a:pt x="8931275" y="0"/>
                  </a:lnTo>
                  <a:lnTo>
                    <a:pt x="8931275" y="5668645"/>
                  </a:lnTo>
                  <a:lnTo>
                    <a:pt x="0" y="56686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958325" y="4541500"/>
            <a:ext cx="5309904" cy="1062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C00000"/>
                </a:solidFill>
                <a:latin typeface="Libre Baskerville" panose="02000000000000000000"/>
                <a:ea typeface="Libre Baskerville" panose="02000000000000000000"/>
                <a:cs typeface="Libre Baskerville" panose="02000000000000000000"/>
                <a:sym typeface="Libre Baskerville" panose="02000000000000000000"/>
              </a:rPr>
              <a:t>THANK YOU</a:t>
            </a:r>
            <a:endParaRPr lang="en-US" sz="6600">
              <a:solidFill>
                <a:srgbClr val="C00000"/>
              </a:solidFill>
              <a:latin typeface="Libre Baskerville" panose="02000000000000000000"/>
              <a:ea typeface="Libre Baskerville" panose="02000000000000000000"/>
              <a:cs typeface="Libre Baskerville" panose="02000000000000000000"/>
              <a:sym typeface="Libre Baskerville" panose="020000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5348</Words>
  <Application>WPS Presentation</Application>
  <PresentationFormat>On-screen Show (4:3)</PresentationFormat>
  <Paragraphs>127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League Spartan</vt:lpstr>
      <vt:lpstr>Calibri (MS) Bold</vt:lpstr>
      <vt:lpstr>Arial</vt:lpstr>
      <vt:lpstr>Times New Roman Bold</vt:lpstr>
      <vt:lpstr>Times New Roman</vt:lpstr>
      <vt:lpstr>Poppins Ultra-Bold</vt:lpstr>
      <vt:lpstr>Libre Baskerville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</dc:title>
  <dc:creator/>
  <cp:lastModifiedBy>Abbu Manasa 502</cp:lastModifiedBy>
  <cp:revision>10</cp:revision>
  <dcterms:created xsi:type="dcterms:W3CDTF">2006-08-16T00:00:00Z</dcterms:created>
  <dcterms:modified xsi:type="dcterms:W3CDTF">2025-12-12T10:32:35Z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6C51EECEB5A14B87A170B39A0AD35AD7_13</vt:lpwstr>
  </property>
  <property fmtid="{D5CDD505-2E9C-101B-9397-08002B2CF9AE}" pid="3" name="KSOProductBuildVer">
    <vt:lpwstr>1033-12.2.0.23155</vt:lpwstr>
  </property>
</Properties>
</file>